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5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5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A31A"/>
    <a:srgbClr val="081F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Bank%20Campaign%20(First%20Bank)SKILL%20COMPLETE%20PROJECT%202(1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SUBSCRIPTION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VS NO SUBSCRIPTION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81F4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7F-4272-BBCC-61D6EF63DA88}"/>
              </c:ext>
            </c:extLst>
          </c:dPt>
          <c:dPt>
            <c:idx val="1"/>
            <c:bubble3D val="0"/>
            <c:spPr>
              <a:solidFill>
                <a:srgbClr val="D8A31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7F-4272-BBCC-61D6EF63DA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'task 1'!$C$58:$C$59</c:f>
              <c:strCache>
                <c:ptCount val="2"/>
                <c:pt idx="0">
                  <c:v>No subscription</c:v>
                </c:pt>
                <c:pt idx="1">
                  <c:v>Subscription</c:v>
                </c:pt>
              </c:strCache>
            </c:strRef>
          </c:cat>
          <c:val>
            <c:numRef>
              <c:f>'task 1'!$D$58:$D$59</c:f>
              <c:numCache>
                <c:formatCode>0.00%</c:formatCode>
                <c:ptCount val="2"/>
                <c:pt idx="0">
                  <c:v>0.52616018634653283</c:v>
                </c:pt>
                <c:pt idx="1">
                  <c:v>0.47383981365346711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7F-4272-BBCC-61D6EF63DA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SUBSCRIPTION</a:t>
            </a:r>
            <a:r>
              <a:rPr lang="en-US" sz="1800" baseline="0"/>
              <a:t> BY PREVIOUS CAMPAIGN OUTCOME</a:t>
            </a:r>
            <a:endParaRPr lang="en-US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4'!$E$5:$E$8</c:f>
              <c:strCache>
                <c:ptCount val="4"/>
                <c:pt idx="0">
                  <c:v>Failure</c:v>
                </c:pt>
                <c:pt idx="1">
                  <c:v>Other</c:v>
                </c:pt>
                <c:pt idx="2">
                  <c:v>Success</c:v>
                </c:pt>
                <c:pt idx="3">
                  <c:v>Unknown</c:v>
                </c:pt>
              </c:strCache>
            </c:strRef>
          </c:cat>
          <c:val>
            <c:numRef>
              <c:f>'task 4'!$F$5:$F$8</c:f>
              <c:numCache>
                <c:formatCode>0.00%</c:formatCode>
                <c:ptCount val="4"/>
                <c:pt idx="0">
                  <c:v>0.50325732899022801</c:v>
                </c:pt>
                <c:pt idx="1">
                  <c:v>0.57169459962756053</c:v>
                </c:pt>
                <c:pt idx="2">
                  <c:v>0.91316526610644255</c:v>
                </c:pt>
                <c:pt idx="3">
                  <c:v>0.40667787653134757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DE-4FDC-B34E-11D76DD89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23673727"/>
        <c:axId val="423684127"/>
      </c:barChart>
      <c:catAx>
        <c:axId val="423673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3684127"/>
        <c:crosses val="autoZero"/>
        <c:auto val="1"/>
        <c:lblAlgn val="ctr"/>
        <c:lblOffset val="100"/>
        <c:noMultiLvlLbl val="0"/>
      </c:catAx>
      <c:valAx>
        <c:axId val="423684127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423673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SUBSCRIPTION BY CALL</a:t>
            </a:r>
            <a:r>
              <a:rPr lang="en-US" sz="1800" baseline="0"/>
              <a:t> DURATION</a:t>
            </a:r>
            <a:endParaRPr lang="en-US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4'!$E$33:$E$35</c:f>
              <c:strCache>
                <c:ptCount val="3"/>
                <c:pt idx="0">
                  <c:v>Long</c:v>
                </c:pt>
                <c:pt idx="1">
                  <c:v>Medium</c:v>
                </c:pt>
                <c:pt idx="2">
                  <c:v>Short</c:v>
                </c:pt>
              </c:strCache>
            </c:strRef>
          </c:cat>
          <c:val>
            <c:numRef>
              <c:f>'task 4'!$F$33:$F$35</c:f>
              <c:numCache>
                <c:formatCode>0.00%</c:formatCode>
                <c:ptCount val="3"/>
                <c:pt idx="0">
                  <c:v>0.85176579925650553</c:v>
                </c:pt>
                <c:pt idx="1">
                  <c:v>0.61521084337349397</c:v>
                </c:pt>
                <c:pt idx="2">
                  <c:v>0.28674850487881648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C4-41B2-8DEC-B339581AC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3678719"/>
        <c:axId val="423666655"/>
      </c:barChart>
      <c:catAx>
        <c:axId val="423678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3666655"/>
        <c:crosses val="autoZero"/>
        <c:auto val="1"/>
        <c:lblAlgn val="ctr"/>
        <c:lblOffset val="100"/>
        <c:noMultiLvlLbl val="0"/>
      </c:catAx>
      <c:valAx>
        <c:axId val="42366665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423678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DEPOSIT</a:t>
            </a:r>
            <a:r>
              <a:rPr lang="en-US" sz="16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CONVERSION BY CONTACT METHOD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8'!$E$5:$E$7</c:f>
              <c:strCache>
                <c:ptCount val="3"/>
                <c:pt idx="0">
                  <c:v>Cellular</c:v>
                </c:pt>
                <c:pt idx="1">
                  <c:v>Telephone</c:v>
                </c:pt>
                <c:pt idx="2">
                  <c:v>Unknown</c:v>
                </c:pt>
              </c:strCache>
            </c:strRef>
          </c:cat>
          <c:val>
            <c:numRef>
              <c:f>'task 8'!$F$5:$F$7</c:f>
              <c:numCache>
                <c:formatCode>0.00%</c:formatCode>
                <c:ptCount val="3"/>
                <c:pt idx="0">
                  <c:v>0.54327281770703806</c:v>
                </c:pt>
                <c:pt idx="1">
                  <c:v>0.50387596899224807</c:v>
                </c:pt>
                <c:pt idx="2">
                  <c:v>0.22591645353793691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85-4262-9CC6-C59DD9693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4274255"/>
        <c:axId val="554265935"/>
      </c:barChart>
      <c:catAx>
        <c:axId val="554274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4265935"/>
        <c:crosses val="autoZero"/>
        <c:auto val="1"/>
        <c:lblAlgn val="ctr"/>
        <c:lblOffset val="100"/>
        <c:noMultiLvlLbl val="0"/>
      </c:catAx>
      <c:valAx>
        <c:axId val="55426593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54274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SUBSCRIPTION</a:t>
            </a:r>
            <a:r>
              <a:rPr lang="en-US" sz="20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BY NUMBER OF CONTANT</a:t>
            </a:r>
            <a:endParaRPr lang="en-US" sz="20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4'!$E$22:$E$25</c:f>
              <c:strCache>
                <c:ptCount val="4"/>
                <c:pt idx="0">
                  <c:v>11+ Contacts</c:v>
                </c:pt>
                <c:pt idx="1">
                  <c:v>6-10 Contacts</c:v>
                </c:pt>
                <c:pt idx="2">
                  <c:v>3-5 Contacts</c:v>
                </c:pt>
                <c:pt idx="3">
                  <c:v>1-2 Contacts</c:v>
                </c:pt>
              </c:strCache>
            </c:strRef>
          </c:cat>
          <c:val>
            <c:numRef>
              <c:f>'task 4'!$F$22:$F$25</c:f>
              <c:numCache>
                <c:formatCode>0.00%</c:formatCode>
                <c:ptCount val="4"/>
                <c:pt idx="0">
                  <c:v>0.22380952380952382</c:v>
                </c:pt>
                <c:pt idx="1">
                  <c:v>0.31402439024390244</c:v>
                </c:pt>
                <c:pt idx="2">
                  <c:v>0.43481781376518219</c:v>
                </c:pt>
                <c:pt idx="3">
                  <c:v>0.50626118067978532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E-49F3-876D-A322CB89A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310591"/>
        <c:axId val="1661289375"/>
      </c:barChart>
      <c:catAx>
        <c:axId val="1661310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289375"/>
        <c:crosses val="autoZero"/>
        <c:auto val="1"/>
        <c:lblAlgn val="ctr"/>
        <c:lblOffset val="100"/>
        <c:noMultiLvlLbl val="0"/>
      </c:catAx>
      <c:valAx>
        <c:axId val="166128937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661310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SUBSCRIPTION</a:t>
            </a:r>
            <a:r>
              <a:rPr lang="en-US" sz="16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BY CUSTOMER AGE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7'!$E$5:$E$7</c:f>
              <c:strCache>
                <c:ptCount val="3"/>
                <c:pt idx="0">
                  <c:v>Middle-Aged</c:v>
                </c:pt>
                <c:pt idx="1">
                  <c:v>Senior</c:v>
                </c:pt>
                <c:pt idx="2">
                  <c:v>Young</c:v>
                </c:pt>
              </c:strCache>
            </c:strRef>
          </c:cat>
          <c:val>
            <c:numRef>
              <c:f>'TASK 7'!$F$5:$F$7</c:f>
              <c:numCache>
                <c:formatCode>0.00%</c:formatCode>
                <c:ptCount val="3"/>
                <c:pt idx="0">
                  <c:v>0.42354877318970674</c:v>
                </c:pt>
                <c:pt idx="1">
                  <c:v>0.53136382031566165</c:v>
                </c:pt>
                <c:pt idx="2">
                  <c:v>0.57050323866467367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82-4EF4-B970-DA5734CD09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4257615"/>
        <c:axId val="554241807"/>
      </c:barChart>
      <c:catAx>
        <c:axId val="554257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4241807"/>
        <c:crosses val="autoZero"/>
        <c:auto val="1"/>
        <c:lblAlgn val="ctr"/>
        <c:lblOffset val="100"/>
        <c:noMultiLvlLbl val="0"/>
      </c:catAx>
      <c:valAx>
        <c:axId val="55424180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54257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SUBSCRIPTION BY OCCUPATION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2'!$E$5:$E$12</c:f>
              <c:strCache>
                <c:ptCount val="8"/>
                <c:pt idx="0">
                  <c:v>Management</c:v>
                </c:pt>
                <c:pt idx="1">
                  <c:v>Technician</c:v>
                </c:pt>
                <c:pt idx="2">
                  <c:v>Blue-Collar</c:v>
                </c:pt>
                <c:pt idx="3">
                  <c:v>Admin.</c:v>
                </c:pt>
                <c:pt idx="4">
                  <c:v>Retired</c:v>
                </c:pt>
                <c:pt idx="5">
                  <c:v>Services</c:v>
                </c:pt>
                <c:pt idx="6">
                  <c:v>Student</c:v>
                </c:pt>
                <c:pt idx="7">
                  <c:v>Unemployed</c:v>
                </c:pt>
              </c:strCache>
            </c:strRef>
          </c:cat>
          <c:val>
            <c:numRef>
              <c:f>'task 2'!$F$5:$F$12</c:f>
              <c:numCache>
                <c:formatCode>0.00%</c:formatCode>
                <c:ptCount val="8"/>
                <c:pt idx="0">
                  <c:v>0.50701480904130947</c:v>
                </c:pt>
                <c:pt idx="1">
                  <c:v>0.46077893582007678</c:v>
                </c:pt>
                <c:pt idx="2">
                  <c:v>0.36419753086419754</c:v>
                </c:pt>
                <c:pt idx="3">
                  <c:v>0.47301349325337333</c:v>
                </c:pt>
                <c:pt idx="4">
                  <c:v>0.66323907455012854</c:v>
                </c:pt>
                <c:pt idx="5">
                  <c:v>0.39978331527627303</c:v>
                </c:pt>
                <c:pt idx="6">
                  <c:v>0.74722222222222223</c:v>
                </c:pt>
                <c:pt idx="7">
                  <c:v>0.56582633053221287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FD-4111-B536-BC0E67DF94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9722879"/>
        <c:axId val="789738271"/>
      </c:barChart>
      <c:catAx>
        <c:axId val="7897228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738271"/>
        <c:crosses val="autoZero"/>
        <c:auto val="1"/>
        <c:lblAlgn val="ctr"/>
        <c:lblOffset val="100"/>
        <c:noMultiLvlLbl val="0"/>
      </c:catAx>
      <c:valAx>
        <c:axId val="789738271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789722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SUBSCRIPTION</a:t>
            </a:r>
            <a:r>
              <a:rPr lang="en-US" sz="1800" baseline="0"/>
              <a:t> BY ACCOUNT BALANCE</a:t>
            </a:r>
            <a:endParaRPr lang="en-US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3'!$E$23:$E$25</c:f>
              <c:strCache>
                <c:ptCount val="3"/>
                <c:pt idx="0">
                  <c:v>High Balance</c:v>
                </c:pt>
                <c:pt idx="1">
                  <c:v>Low Balance</c:v>
                </c:pt>
                <c:pt idx="2">
                  <c:v>Medium Balance</c:v>
                </c:pt>
              </c:strCache>
            </c:strRef>
          </c:cat>
          <c:val>
            <c:numRef>
              <c:f>'task 3'!$F$23:$F$25</c:f>
              <c:numCache>
                <c:formatCode>0.00%</c:formatCode>
                <c:ptCount val="3"/>
                <c:pt idx="0">
                  <c:v>0.57198443579766534</c:v>
                </c:pt>
                <c:pt idx="1">
                  <c:v>0.42704676309507089</c:v>
                </c:pt>
                <c:pt idx="2">
                  <c:v>0.55259938837920486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F9-4E5A-844E-444AC1CA4E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6610351"/>
        <c:axId val="1606613679"/>
      </c:barChart>
      <c:catAx>
        <c:axId val="160661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6613679"/>
        <c:crosses val="autoZero"/>
        <c:auto val="1"/>
        <c:lblAlgn val="ctr"/>
        <c:lblOffset val="100"/>
        <c:noMultiLvlLbl val="0"/>
      </c:catAx>
      <c:valAx>
        <c:axId val="1606613679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606610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SUBSCRIPTION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RATE BY LOAN STATUS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3'!$B$41:$B$44</c:f>
              <c:strCache>
                <c:ptCount val="4"/>
                <c:pt idx="0">
                  <c:v>House loan</c:v>
                </c:pt>
                <c:pt idx="1">
                  <c:v>Personal loan</c:v>
                </c:pt>
                <c:pt idx="2">
                  <c:v>House loan</c:v>
                </c:pt>
                <c:pt idx="3">
                  <c:v>Personal loan</c:v>
                </c:pt>
              </c:strCache>
              <c:extLst/>
            </c:strRef>
          </c:cat>
          <c:val>
            <c:numRef>
              <c:f>'task 3'!$D$41:$D$44</c:f>
              <c:numCache>
                <c:formatCode>0.00%</c:formatCode>
                <c:ptCount val="4"/>
                <c:pt idx="0">
                  <c:v>0.57031117156946098</c:v>
                </c:pt>
                <c:pt idx="1">
                  <c:v>0.4952587095444238</c:v>
                </c:pt>
                <c:pt idx="2">
                  <c:v>0.36640787729596669</c:v>
                </c:pt>
                <c:pt idx="3">
                  <c:v>0.33150684931506852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29-4947-824B-F2AB892AB3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8369776"/>
        <c:axId val="1408386416"/>
      </c:barChart>
      <c:catAx>
        <c:axId val="140836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386416"/>
        <c:crosses val="autoZero"/>
        <c:auto val="1"/>
        <c:lblAlgn val="ctr"/>
        <c:lblOffset val="100"/>
        <c:noMultiLvlLbl val="0"/>
      </c:catAx>
      <c:valAx>
        <c:axId val="1408386416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408369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SUBSCRIPTION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BY EDUCATION LEVEL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1'!$E$34:$E$37</c:f>
              <c:strCache>
                <c:ptCount val="4"/>
                <c:pt idx="0">
                  <c:v>Primary</c:v>
                </c:pt>
                <c:pt idx="1">
                  <c:v>Secondary</c:v>
                </c:pt>
                <c:pt idx="2">
                  <c:v>Tertiary</c:v>
                </c:pt>
                <c:pt idx="3">
                  <c:v>Unknown</c:v>
                </c:pt>
              </c:strCache>
            </c:strRef>
          </c:cat>
          <c:val>
            <c:numRef>
              <c:f>'task 1'!$F$34:$F$37</c:f>
              <c:numCache>
                <c:formatCode>0.00%</c:formatCode>
                <c:ptCount val="4"/>
                <c:pt idx="0">
                  <c:v>0.39400000000000002</c:v>
                </c:pt>
                <c:pt idx="1">
                  <c:v>0.44740686632578525</c:v>
                </c:pt>
                <c:pt idx="2">
                  <c:v>0.54106804011927356</c:v>
                </c:pt>
                <c:pt idx="3">
                  <c:v>0.50704225352112675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43-4F24-8AF0-E117E095F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9883951"/>
        <c:axId val="1889882287"/>
      </c:barChart>
      <c:catAx>
        <c:axId val="188988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9882287"/>
        <c:crosses val="autoZero"/>
        <c:auto val="1"/>
        <c:lblAlgn val="ctr"/>
        <c:lblOffset val="100"/>
        <c:noMultiLvlLbl val="0"/>
      </c:catAx>
      <c:valAx>
        <c:axId val="188988228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89883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SUBSCRIPTION</a:t>
            </a:r>
            <a:r>
              <a:rPr lang="en-US" sz="1800" baseline="0"/>
              <a:t> BY MARITAL STATUS</a:t>
            </a:r>
            <a:endParaRPr lang="en-US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1'!$E$45:$E$47</c:f>
              <c:strCache>
                <c:ptCount val="3"/>
                <c:pt idx="0">
                  <c:v>Divorced</c:v>
                </c:pt>
                <c:pt idx="1">
                  <c:v>Married</c:v>
                </c:pt>
                <c:pt idx="2">
                  <c:v>Single</c:v>
                </c:pt>
              </c:strCache>
            </c:strRef>
          </c:cat>
          <c:val>
            <c:numRef>
              <c:f>'task 1'!$F$45:$F$47</c:f>
              <c:numCache>
                <c:formatCode>0.00%</c:formatCode>
                <c:ptCount val="3"/>
                <c:pt idx="0">
                  <c:v>0.48105181747873166</c:v>
                </c:pt>
                <c:pt idx="1">
                  <c:v>0.43378995433789952</c:v>
                </c:pt>
                <c:pt idx="2">
                  <c:v>0.54349061967026724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7-4C43-B055-DEA9EEFAE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299359"/>
        <c:axId val="1661296447"/>
      </c:barChart>
      <c:catAx>
        <c:axId val="1661299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296447"/>
        <c:crosses val="autoZero"/>
        <c:auto val="1"/>
        <c:lblAlgn val="ctr"/>
        <c:lblOffset val="100"/>
        <c:noMultiLvlLbl val="0"/>
      </c:catAx>
      <c:valAx>
        <c:axId val="166129644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661299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MONTHLY</a:t>
            </a:r>
            <a:r>
              <a:rPr lang="en-US" sz="1800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DEPOSIT SUBSCRIPTION RATE</a:t>
            </a:r>
            <a:endParaRPr lang="en-US" sz="1800">
              <a:solidFill>
                <a:schemeClr val="tx1">
                  <a:lumMod val="95000"/>
                  <a:lumOff val="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D8A31A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6'!$E$5:$E$16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'task 6'!$F$5:$F$16</c:f>
              <c:numCache>
                <c:formatCode>0.00%</c:formatCode>
                <c:ptCount val="12"/>
                <c:pt idx="0">
                  <c:v>0.41279069767441862</c:v>
                </c:pt>
                <c:pt idx="1">
                  <c:v>0.56829896907216493</c:v>
                </c:pt>
                <c:pt idx="2">
                  <c:v>0.89855072463768115</c:v>
                </c:pt>
                <c:pt idx="3">
                  <c:v>0.62513542795232935</c:v>
                </c:pt>
                <c:pt idx="4">
                  <c:v>0.32754957507082155</c:v>
                </c:pt>
                <c:pt idx="5">
                  <c:v>0.44680851063829785</c:v>
                </c:pt>
                <c:pt idx="6">
                  <c:v>0.41413474240422721</c:v>
                </c:pt>
                <c:pt idx="7">
                  <c:v>0.45292955892034231</c:v>
                </c:pt>
                <c:pt idx="8">
                  <c:v>0.84326018808777425</c:v>
                </c:pt>
                <c:pt idx="9">
                  <c:v>0.82397959183673475</c:v>
                </c:pt>
                <c:pt idx="10">
                  <c:v>0.42735949098621423</c:v>
                </c:pt>
                <c:pt idx="11">
                  <c:v>0.90909090909090906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C2-4253-8283-FECC2832FE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4297551"/>
        <c:axId val="554300463"/>
      </c:lineChart>
      <c:catAx>
        <c:axId val="554297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4300463"/>
        <c:crosses val="autoZero"/>
        <c:auto val="1"/>
        <c:lblAlgn val="ctr"/>
        <c:lblOffset val="100"/>
        <c:noMultiLvlLbl val="0"/>
      </c:catAx>
      <c:valAx>
        <c:axId val="55430046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54297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9759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workbook: Bank Campaign (First Bank)SKILL COMPLETE PROJECT 2(1).xlsx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686C03-4B7A-4FBE-91D8-9E51E9E117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FE3E4-87A2-4D67-9C91-082D780A2370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857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FIRST BANK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72C14-66F8-4ED0-8FCF-F181BD80E651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D8A31A"/>
                </a:solidFill>
              </a:defRPr>
            </a:pPr>
            <a:r>
              <a:rPr sz="4050" b="1">
                <a:solidFill>
                  <a:srgbClr val="D8A31A"/>
                </a:solidFill>
              </a:rPr>
              <a:t>CAMPAIGN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38B2F2-3D23-4A2C-85E5-4025DA9523AA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923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Customer conversion, campaign efficiency and practical priorities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83A2A6-D6BE-4C8A-ADF7-B44F17D3D04C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3571875" cy="381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5A4A9B-95F0-499F-A597-AA0EEE591480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DCE5F5"/>
                </a:solidFill>
              </a:defRPr>
            </a:pPr>
            <a:r>
              <a:rPr sz="1575" b="0">
                <a:solidFill>
                  <a:srgbClr val="DCE5F5"/>
                </a:solidFill>
              </a:rPr>
              <a:t>“Giant In You” Campaign 2024</a:t>
            </a:r>
          </a:p>
        </p:txBody>
      </p:sp>
    </p:spTree>
    <p:extLst>
      <p:ext uri="{BB962C8B-B14F-4D97-AF65-F5344CB8AC3E}">
        <p14:creationId xmlns:p14="http://schemas.microsoft.com/office/powerpoint/2010/main" val="198596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A95279-0F9B-4C79-A31C-E883539CF7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F2BC9A-8ED6-441E-B21F-AB4AAEBF7C7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82CE7A-406D-43F4-B330-3A9456902EDB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The campaign converted almost half of all customers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58EFE-233D-4DD4-A409-4DD95AC05DEA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969779-E45A-42F3-B230-73D60B96BBB1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0BE16D-7BE3-4D9F-8AED-9F5AEC932397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3286125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C354D8-1701-4A8D-8B06-C93258F719B3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28289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81F4D"/>
                </a:solidFill>
              </a:defRPr>
            </a:pPr>
            <a:r>
              <a:rPr sz="3225" b="1" dirty="0">
                <a:solidFill>
                  <a:srgbClr val="081F4D"/>
                </a:solidFill>
              </a:rPr>
              <a:t>11,162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BAB1E2-7DD3-4FB7-AE4D-6A3090CB012C}"/>
              </a:ext>
            </a:extLst>
          </p:cNvPr>
          <p:cNvSpPr>
            <a:spLocks noGrp="1"/>
          </p:cNvSpPr>
          <p:nvPr/>
        </p:nvSpPr>
        <p:spPr>
          <a:xfrm>
            <a:off x="800100" y="2530336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TOTAL 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49476B-E779-42DE-AA8B-2D6F4A4D744F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3"/>
                </a:solidFill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Customers included in the campaign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46C798-468E-4522-BEBB-25210FE99FC7}"/>
              </a:ext>
            </a:extLst>
          </p:cNvPr>
          <p:cNvSpPr>
            <a:spLocks noGrp="1"/>
          </p:cNvSpPr>
          <p:nvPr/>
        </p:nvSpPr>
        <p:spPr>
          <a:xfrm>
            <a:off x="4457700" y="1695450"/>
            <a:ext cx="3286125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9906BD-DBEC-40BC-A4B5-EDA976A5277F}"/>
              </a:ext>
            </a:extLst>
          </p:cNvPr>
          <p:cNvSpPr>
            <a:spLocks noGrp="1"/>
          </p:cNvSpPr>
          <p:nvPr/>
        </p:nvSpPr>
        <p:spPr>
          <a:xfrm>
            <a:off x="4686300" y="1885950"/>
            <a:ext cx="28289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81F4D"/>
                </a:solidFill>
              </a:defRPr>
            </a:pPr>
            <a:r>
              <a:rPr sz="3225" b="1">
                <a:solidFill>
                  <a:srgbClr val="081F4D"/>
                </a:solidFill>
              </a:rPr>
              <a:t>5,289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A36734-AF07-4BE4-8003-61DE5286CC36}"/>
              </a:ext>
            </a:extLst>
          </p:cNvPr>
          <p:cNvSpPr>
            <a:spLocks noGrp="1"/>
          </p:cNvSpPr>
          <p:nvPr/>
        </p:nvSpPr>
        <p:spPr>
          <a:xfrm>
            <a:off x="4686300" y="2524125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SUBSCRIBERS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EA56AF-9417-4383-922C-6C187B4DF6C7}"/>
              </a:ext>
            </a:extLst>
          </p:cNvPr>
          <p:cNvSpPr>
            <a:spLocks noGrp="1"/>
          </p:cNvSpPr>
          <p:nvPr/>
        </p:nvSpPr>
        <p:spPr>
          <a:xfrm>
            <a:off x="4686300" y="2876550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3"/>
                </a:solidFill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Customers who accepted the deposit offer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7379D1-C092-4DE2-9FA4-C1CEAA0E3867}"/>
              </a:ext>
            </a:extLst>
          </p:cNvPr>
          <p:cNvSpPr>
            <a:spLocks noGrp="1"/>
          </p:cNvSpPr>
          <p:nvPr/>
        </p:nvSpPr>
        <p:spPr>
          <a:xfrm>
            <a:off x="8362950" y="1695450"/>
            <a:ext cx="3286125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F05646-92B6-46A7-B7BD-A3458C99E309}"/>
              </a:ext>
            </a:extLst>
          </p:cNvPr>
          <p:cNvSpPr>
            <a:spLocks noGrp="1"/>
          </p:cNvSpPr>
          <p:nvPr/>
        </p:nvSpPr>
        <p:spPr>
          <a:xfrm>
            <a:off x="8591550" y="1885950"/>
            <a:ext cx="28289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81F4D"/>
                </a:solidFill>
              </a:defRPr>
            </a:pPr>
            <a:r>
              <a:rPr sz="3225" b="1">
                <a:solidFill>
                  <a:srgbClr val="081F4D"/>
                </a:solidFill>
              </a:rPr>
              <a:t>47.38%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76682C-2EF7-43A5-B90E-99BD8A46053A}"/>
              </a:ext>
            </a:extLst>
          </p:cNvPr>
          <p:cNvSpPr>
            <a:spLocks noGrp="1"/>
          </p:cNvSpPr>
          <p:nvPr/>
        </p:nvSpPr>
        <p:spPr>
          <a:xfrm>
            <a:off x="8591550" y="2524125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SUBSCRIPTION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F0069E-C862-48E2-8940-DFB727315487}"/>
              </a:ext>
            </a:extLst>
          </p:cNvPr>
          <p:cNvSpPr>
            <a:spLocks noGrp="1"/>
          </p:cNvSpPr>
          <p:nvPr/>
        </p:nvSpPr>
        <p:spPr>
          <a:xfrm>
            <a:off x="8591550" y="2876550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3"/>
                </a:solidFill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Overall campaign conversion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823661-6B64-4A4F-9F15-119F6DE4F0C2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DAA36-F6D4-4D2D-988E-47E2367A4434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5AD2E6-2C82-4C05-9761-430B32F99055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campaign achieved a strong 47.38% conversion rate, but performance varies sharply by previous outcome, contact channel, call duration and customer profile. Those differences provide clear opportunities to improve targeting and reduce wasted contact attempts.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750176-D1D3-46B9-9F46-467C9984B559}"/>
              </a:ext>
            </a:extLst>
          </p:cNvPr>
          <p:cNvSpPr>
            <a:spLocks noGrp="1"/>
          </p:cNvSpPr>
          <p:nvPr/>
        </p:nvSpPr>
        <p:spPr>
          <a:xfrm>
            <a:off x="3609975" y="3590926"/>
            <a:ext cx="3286125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5328F-D9CB-4AAF-832B-20B0F6D5CB02}"/>
              </a:ext>
            </a:extLst>
          </p:cNvPr>
          <p:cNvSpPr>
            <a:spLocks noGrp="1"/>
          </p:cNvSpPr>
          <p:nvPr/>
        </p:nvSpPr>
        <p:spPr>
          <a:xfrm>
            <a:off x="3838575" y="3762375"/>
            <a:ext cx="28289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81F4D"/>
                </a:solidFill>
              </a:defRPr>
            </a:pPr>
            <a:r>
              <a:rPr sz="3225" b="1" dirty="0">
                <a:solidFill>
                  <a:srgbClr val="081F4D"/>
                </a:solidFill>
              </a:rPr>
              <a:t>1,</a:t>
            </a:r>
            <a:r>
              <a:rPr lang="en-US" sz="3225" b="1" dirty="0">
                <a:solidFill>
                  <a:srgbClr val="081F4D"/>
                </a:solidFill>
              </a:rPr>
              <a:t>529</a:t>
            </a:r>
            <a:endParaRPr sz="3225" b="1" dirty="0">
              <a:solidFill>
                <a:srgbClr val="081F4D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2F02EE-5470-414A-868B-6710327D2DDA}"/>
              </a:ext>
            </a:extLst>
          </p:cNvPr>
          <p:cNvSpPr>
            <a:spLocks noGrp="1"/>
          </p:cNvSpPr>
          <p:nvPr/>
        </p:nvSpPr>
        <p:spPr>
          <a:xfrm>
            <a:off x="3742911" y="4333874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lang="en-US" sz="1650" b="1" dirty="0">
                <a:solidFill>
                  <a:srgbClr val="111111"/>
                </a:solidFill>
              </a:rPr>
              <a:t>AVERAGE ACCOUNT BALANCE</a:t>
            </a:r>
            <a:endParaRPr sz="1650" b="1" dirty="0">
              <a:solidFill>
                <a:srgbClr val="11111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8D3CF4-9CAD-4E97-915F-E89B6A094FBB}"/>
              </a:ext>
            </a:extLst>
          </p:cNvPr>
          <p:cNvSpPr>
            <a:spLocks noGrp="1"/>
          </p:cNvSpPr>
          <p:nvPr/>
        </p:nvSpPr>
        <p:spPr>
          <a:xfrm>
            <a:off x="3773557" y="4830211"/>
            <a:ext cx="2828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73"/>
                </a:solidFill>
              </a:defRPr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Average balance held by customers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286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EFA0B92-B883-4B7E-999A-65B8FDD9A2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153223-6B14-427F-AD61-2A50E3B26F4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988F3-0037-4229-9869-13E171F1BBF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Clean, standardised data supports reliable comparisons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14946-E89A-47FB-92DD-DEB395B82DE8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C0C0C-B1A4-40C2-94AD-174C28FF42AA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1D3FD7-B108-4A37-9375-8CF4D7F9571A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D8A31A"/>
                </a:solidFill>
              </a:defRPr>
            </a:pPr>
            <a:r>
              <a:rPr sz="1875" b="1">
                <a:solidFill>
                  <a:srgbClr val="D8A31A"/>
                </a:solidFill>
              </a:rPr>
              <a:t>What was cleaned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68A43-7729-4249-BE04-954A7C695566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•  Standardised capitalisation across customer categories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E17CDC-BD5B-40EC-9AA5-C0DEBB8E3519}"/>
              </a:ext>
            </a:extLst>
          </p:cNvPr>
          <p:cNvSpPr>
            <a:spLocks noGrp="1"/>
          </p:cNvSpPr>
          <p:nvPr/>
        </p:nvSpPr>
        <p:spPr>
          <a:xfrm>
            <a:off x="742950" y="2600325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Split combined day/month fields for time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20493E-9542-4A13-ADAC-B549509EF37D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Grouped ages, balances, call durations and contact counts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D880B-F2AD-4386-A56C-BBC36B38047D}"/>
              </a:ext>
            </a:extLst>
          </p:cNvPr>
          <p:cNvSpPr>
            <a:spLocks noGrp="1"/>
          </p:cNvSpPr>
          <p:nvPr/>
        </p:nvSpPr>
        <p:spPr>
          <a:xfrm>
            <a:off x="742950" y="3838575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Corrected the subscription-rate label and checked totals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138ED2-EFCB-4B61-B3CA-9EB92400CF13}"/>
              </a:ext>
            </a:extLst>
          </p:cNvPr>
          <p:cNvSpPr>
            <a:spLocks noGrp="1"/>
          </p:cNvSpPr>
          <p:nvPr/>
        </p:nvSpPr>
        <p:spPr>
          <a:xfrm>
            <a:off x="6191250" y="15049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D8A31A"/>
                </a:solidFill>
              </a:defRPr>
            </a:pPr>
            <a:r>
              <a:rPr sz="1875" b="1">
                <a:solidFill>
                  <a:srgbClr val="D8A31A"/>
                </a:solidFill>
              </a:rPr>
              <a:t>How quality was protected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817D52-3F67-457C-AB84-386A4962A34C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8577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main customer fields were complete across 11,162 records. Calculated summary cells were kept separate from row-level variables, duplicate category spellings were aligned, and percentages were recalculated from subscription counts rather than copied blindly from charts.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80125F-2D8B-4BA8-B266-F067D31855DF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4857750" cy="742950"/>
          </a:xfrm>
          <a:prstGeom prst="roundRect">
            <a:avLst>
              <a:gd name="adj" fmla="val 10256"/>
            </a:avLst>
          </a:prstGeom>
          <a:solidFill>
            <a:srgbClr val="FFF7D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67465D-6670-4330-A7B6-DF1A41D07893}"/>
              </a:ext>
            </a:extLst>
          </p:cNvPr>
          <p:cNvSpPr>
            <a:spLocks noGrp="1"/>
          </p:cNvSpPr>
          <p:nvPr/>
        </p:nvSpPr>
        <p:spPr>
          <a:xfrm>
            <a:off x="6429375" y="4552950"/>
            <a:ext cx="440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1F4D"/>
                </a:solidFill>
              </a:defRPr>
            </a:pPr>
            <a:r>
              <a:rPr sz="1500" b="1">
                <a:solidFill>
                  <a:srgbClr val="081F4D"/>
                </a:solidFill>
              </a:rPr>
              <a:t>Final validation: 5,289 Yes + 5,873 No = 11,162 customers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DDCCF1-BFFD-46AA-A683-58AE2CDE0AFD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6651FB-F729-4539-9C2D-FA1BF29C419B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625130-5A8E-417C-89C0-E90AFB3D276D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This cleaning makes category comparisons reliable and prevents formatting differences—such as ‘admin.’ versus ‘Admin.’—from splitting the same customer group across multiple chart entries.</a:t>
            </a:r>
          </a:p>
        </p:txBody>
      </p:sp>
    </p:spTree>
    <p:extLst>
      <p:ext uri="{BB962C8B-B14F-4D97-AF65-F5344CB8AC3E}">
        <p14:creationId xmlns:p14="http://schemas.microsoft.com/office/powerpoint/2010/main" val="184445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9C66D9-12D6-4970-8C47-1E201A2FAFD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 dirty="0">
                <a:solidFill>
                  <a:srgbClr val="D8A31A"/>
                </a:solidFill>
              </a:rPr>
              <a:t>EXECUTIVE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56E33-3473-4DBE-A4BA-DF62B4D9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671"/>
            <a:ext cx="12192000" cy="514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74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CD593A7-C206-43E8-B869-851ADA718C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3C0C03-62A9-4B5E-83D6-5C2ECC4F3B1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B77544-9912-4D34-AB78-9715E0C3736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5,289 customers subscribed to the deposit 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411E18-A4D0-481B-9CB0-A40B7B9EAE48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DBF7E-ECDB-4D8A-AC7E-BCF1F220718A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ACDA7-6303-41EA-B6FA-4AD0AB069F3B}"/>
              </a:ext>
            </a:extLst>
          </p:cNvPr>
          <p:cNvSpPr>
            <a:spLocks noGrp="1"/>
          </p:cNvSpPr>
          <p:nvPr/>
        </p:nvSpPr>
        <p:spPr>
          <a:xfrm>
            <a:off x="6762750" y="2047875"/>
            <a:ext cx="3667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0" b="1">
                <a:solidFill>
                  <a:srgbClr val="D8A31A"/>
                </a:solidFill>
              </a:defRPr>
            </a:pPr>
            <a:r>
              <a:rPr sz="4050" b="1">
                <a:solidFill>
                  <a:srgbClr val="D8A31A"/>
                </a:solidFill>
              </a:rPr>
              <a:t>47.38%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BC86DA-CA90-4D4E-A448-66D2CBC35D6E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3667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81F4D"/>
                </a:solidFill>
              </a:defRPr>
            </a:pPr>
            <a:r>
              <a:rPr sz="1800" b="1">
                <a:solidFill>
                  <a:srgbClr val="081F4D"/>
                </a:solidFill>
              </a:rPr>
              <a:t>overall subscription 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8DA843-F42C-477D-B4D5-2DBB45DFD5A2}"/>
              </a:ext>
            </a:extLst>
          </p:cNvPr>
          <p:cNvSpPr>
            <a:spLocks noGrp="1"/>
          </p:cNvSpPr>
          <p:nvPr/>
        </p:nvSpPr>
        <p:spPr>
          <a:xfrm>
            <a:off x="6762750" y="3333750"/>
            <a:ext cx="36671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>
                <a:solidFill>
                  <a:srgbClr val="5E6673"/>
                </a:solidFill>
              </a:defRPr>
            </a:pPr>
            <a:r>
              <a:rPr sz="1725" b="0">
                <a:solidFill>
                  <a:srgbClr val="5E6673"/>
                </a:solidFill>
              </a:rPr>
              <a:t>The campaign is close to an even split, with 584 more non-subscribers than subscribers.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9363D2-53BA-46CF-943A-D1F7F10F7C28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7ECB88-1F82-4853-9CE3-CAE8164D8EA3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C8992-035B-482D-9AE0-486356902339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overall result is strong enough to build on, but the remaining 52.62% non-conversion means targeting and contact execution still have substantial room for improvement.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60E98E6-4459-48D1-A79F-7C99EE96FC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0240407"/>
              </p:ext>
            </p:extLst>
          </p:nvPr>
        </p:nvGraphicFramePr>
        <p:xfrm>
          <a:off x="857250" y="1833343"/>
          <a:ext cx="56006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665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B49442-2869-4B3D-B9A1-D6E6D96305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251C5-70C0-44BC-815A-C020F4BF11A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0D948-89C1-43AD-9CCD-F850014AC071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Previous campaign success is the strongest conversion signal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1066A0-16F9-49BD-9333-31C9DC02E25E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ABCC6-E92A-4841-9D38-F48E01417F20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330EE8-23B2-4C7D-9F45-234067AC73F9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63676-A42D-4FE1-9439-97205EEAA04E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211ED7-23BD-46E8-AA16-E937907F0DB0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Customers with a successful previous outcome convert at 91.32%—more than double the 40.67% rate for customers with no known outcome. Previous responders should therefore be treated as a high-priority audience for future campaigns.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35397BA-723D-4366-866C-61C2F7AF28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2410317"/>
              </p:ext>
            </p:extLst>
          </p:nvPr>
        </p:nvGraphicFramePr>
        <p:xfrm>
          <a:off x="1554553" y="1859755"/>
          <a:ext cx="8531982" cy="3159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11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E872CC-BF06-4C0D-8408-6E140F3CBF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B1C066-EADE-43D1-A9BA-4C3E3F8EBC8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80A84-BCDB-4679-A5CA-A9E254118C8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Longer conversations are closely linked to subscription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930185-9C82-44D5-A149-5EADEF865566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536086-BC6D-44D3-8753-841FD5CEBF34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07A6CB-F1EC-4DAA-BEB3-5C96BCC0B8CA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B20D3-2996-4167-AF80-4F15442D9468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1A1069-AA34-43A8-B0B3-5461FEC7963D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Conversion rises from 28.67% for short calls to 85.18% for long calls. Duration is partly an outcome of customer interest rather than a factor the bank can simply extend, but it remains a powerful real-time signal for lead quality and agent follow-up.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800D0E5-0AE7-4D0E-8188-594F75D266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773130"/>
              </p:ext>
            </p:extLst>
          </p:nvPr>
        </p:nvGraphicFramePr>
        <p:xfrm>
          <a:off x="800100" y="1491175"/>
          <a:ext cx="9342706" cy="3272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1273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4AD09B-7884-4C4D-BC98-A25B787FBE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3D5F6D-D8AB-47FF-92C2-F225BD0086B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EB2B0C-46FC-4D82-B97B-EC45EE72B84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Identified contact channels outperform unknown contact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029C9D-D5C4-4B28-9056-47004C9508CF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88785-2F98-4F99-AD5F-B4C8C39AD44D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917964-58EA-4419-ABD5-F75BCF41216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82523-D005-4049-B8C9-55405406026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485858-F94C-4CE4-BD79-53AE7A45C41F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Cellular contact delivers a 54.33% subscription rate, while unknown contact records convert at only 22.59%. Improving contact-data completeness and prioritising verified mobile numbers could remove one of the clearest sources of campaign underperformance.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EBC7F51-0605-4947-90C2-2634BED1A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947134"/>
              </p:ext>
            </p:extLst>
          </p:nvPr>
        </p:nvGraphicFramePr>
        <p:xfrm>
          <a:off x="970671" y="1333501"/>
          <a:ext cx="8117058" cy="3312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4372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5577FD-82E0-4B55-8A8D-AD6E2BD303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3D95AA-3AAE-4038-A8AD-8210B8CBFB8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7EF141-720A-48E5-AD10-8A25355EDEC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Repeated contact produces diminishing returns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74048-7E43-4C33-928C-1EFE15AB7B3C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061E80-B6FD-4987-8393-241563A91CF2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39F096-B90E-4857-BD9A-E18DC9216F1B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790F7B-14EC-44B9-8C25-E29E1298A377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CD730D-D2E7-4DAC-9FCB-0C3F77B8E80C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Customers contacted once or twice convert at 50.63%, compared with 22.38% after 11 or more attempts. Heavy repetition is more likely to reflect weak interest than persistence paying off, so contact limits and earlier lead re-scoring would improve efficiency.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DE45DF52-4F7B-4EC7-BE36-54E267C3F4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6547991"/>
              </p:ext>
            </p:extLst>
          </p:nvPr>
        </p:nvGraphicFramePr>
        <p:xfrm>
          <a:off x="1392701" y="1333500"/>
          <a:ext cx="9172135" cy="3255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038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176198-4670-4F2F-AC0F-5DC0376780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C1F1C2-C119-4B99-887C-8A1F3934419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F603E2-2981-4107-B974-B49E40AA266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Young and senior customers respond more strongly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DCAA89-0A25-43C3-8532-F59C9FDEE9D1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59BAEA-2F5C-41A9-B22A-854D136B8230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AAEF1B-B2AB-45C9-8D36-818FAEFF9BC8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557AC-FBC5-4D5F-B5A8-A0F5338D5ED4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9A7D92-6C08-4F45-8A4B-EF672AA96D8E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Young customers record the highest rate at 57.05%, followed by seniors at 53.14%; middle-aged customers fall to 42.35%. Messaging and product positioning should therefore be adapted by life stage rather than delivered as one broad offer.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699CADE-C858-4C57-A1C5-00525C63D7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0019164"/>
              </p:ext>
            </p:extLst>
          </p:nvPr>
        </p:nvGraphicFramePr>
        <p:xfrm>
          <a:off x="1237957" y="1477108"/>
          <a:ext cx="8496886" cy="3192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80287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9F2868-DA84-4E35-AC78-B8288BEA2C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ED22BC-E415-43C4-ACDF-EF64F91429C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F66EF-E1E1-4929-AB82-EE1E2FC48D2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Students and retirees are the most responsive job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75DFA0-10FB-49FF-AAFD-26DCF1693576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4B426-5EE0-408C-BABB-C18FEDE05966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00D7B0-C4DB-407A-A239-C788F12E3E85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8B5602-99CA-439E-A0F9-1CF3202622B6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3B5D32-C106-4721-92B9-140B4DD53EB7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Students lead at 74.72% and retirees reach 66.32%, while blue-collar and entrepreneur groups remain below 38%. These gaps support segment-specific propositions, but group size and affordability checks should be considered alongside conversion rate.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25850E3-7C9E-4116-885E-A3DABDBA2D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232885"/>
              </p:ext>
            </p:extLst>
          </p:nvPr>
        </p:nvGraphicFramePr>
        <p:xfrm>
          <a:off x="1738312" y="1728568"/>
          <a:ext cx="7785516" cy="3147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672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CA61EF-E591-402F-A7F2-0823D8BC12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7130C8-BE17-4713-B2D3-BC15A796342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F96E27-7159-443D-B373-0F1EFD5F4AB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Customers with stronger balances convert more often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308436-511F-4F21-9992-E9245C0F260D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96C97-802D-478E-A0A5-6CFD991AC424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FF8B4B-A946-4F97-96A3-5EB41571B86B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20F9B2-B63F-4F86-9971-DB8BA18B15ED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75EC5-805B-4E83-BA4D-A9E3EECC03B1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Conversion increases from 42.70% among low-balance customers to 57.20% in the high-balance group. Balance can improve targeting, although medium-balance customers offer the larger scalable opportunity because their conversion is nearly as strong and the segment is much bigger.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AD81F4B-7F2F-4758-AC9D-F1BD84B9A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24320"/>
              </p:ext>
            </p:extLst>
          </p:nvPr>
        </p:nvGraphicFramePr>
        <p:xfrm>
          <a:off x="800100" y="1510226"/>
          <a:ext cx="8723727" cy="2954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62303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10E396-98B8-484F-8DE3-0BB36935EA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346677-D0CC-4C12-92EF-876B33383AE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372EC-2833-43FE-BE25-563D5620254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Existing loan commitments reduce subscription likelihood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5B1E20-ABEF-401B-9511-BE41C3303F30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E0AFE-A3AC-460D-9444-24A1D688B795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C8B794-0C86-4756-849C-05F2F5A4A732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5836E8-6C9C-45AC-B2DA-470BEFEFC6B8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9A22B4-2409-4DEA-B84D-B1152A632918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Customers without housing loans convert at 57.03%, compared with 36.64% for those with housing loans. The same pattern appears for personal loans, suggesting that financial commitments may reduce capacity or willingness to take another product.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760F43F-4832-420D-AF9A-5F1DC3D7F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452086"/>
              </p:ext>
            </p:extLst>
          </p:nvPr>
        </p:nvGraphicFramePr>
        <p:xfrm>
          <a:off x="800100" y="2057400"/>
          <a:ext cx="931729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2113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FB35F1-86D6-48CF-B908-9D417CD368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A75DFC-ED76-4048-A3B8-02B51EC48D7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D1256-5AF6-4CBA-8643-F507A6E9081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lang="en-US" sz="2700" b="1" dirty="0">
                <a:solidFill>
                  <a:srgbClr val="081F4D"/>
                </a:solidFill>
              </a:rPr>
              <a:t>T</a:t>
            </a:r>
            <a:r>
              <a:rPr sz="2700" b="1" dirty="0">
                <a:solidFill>
                  <a:srgbClr val="081F4D"/>
                </a:solidFill>
              </a:rPr>
              <a:t>ertiary-educated customers respond most strongly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33931-0D5E-4371-AF0D-AC5DF00D224B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F27AD-A967-4DE9-B98F-F10A9E93738A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026BED-7F5A-4978-ACE5-6863F848CC00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3F72B6-4418-4CA8-A851-BAFE85D92E1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3E872-2F3A-4C8F-84EC-502D3F6551B0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lang="en-US" sz="1650" b="0" dirty="0">
                <a:solidFill>
                  <a:srgbClr val="111111"/>
                </a:solidFill>
              </a:rPr>
              <a:t>Tertiary-educated customers had the highest subscription rate at 54.11%, while primary-educated customers recorded the lowest at 39.40%—a 14.71-percentage-point gap. Campaign communication should be simplified for customers with lower education levels, and “Unknown” records should be reviewed.</a:t>
            </a:r>
            <a:r>
              <a:rPr sz="1650" b="0" dirty="0">
                <a:solidFill>
                  <a:srgbClr val="111111"/>
                </a:solidFill>
              </a:rPr>
              <a:t> 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C2CA76E-8454-4FE2-A49C-D82D5A2B08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8154225"/>
              </p:ext>
            </p:extLst>
          </p:nvPr>
        </p:nvGraphicFramePr>
        <p:xfrm>
          <a:off x="1264333" y="1501140"/>
          <a:ext cx="8456441" cy="2963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05035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FB35F1-86D6-48CF-B908-9D417CD368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A75DFC-ED76-4048-A3B8-02B51EC48D7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D1256-5AF6-4CBA-8643-F507A6E9081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 dirty="0">
                <a:solidFill>
                  <a:srgbClr val="081F4D"/>
                </a:solidFill>
              </a:rPr>
              <a:t>Single customers respond most strongly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33931-0D5E-4371-AF0D-AC5DF00D224B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F27AD-A967-4DE9-B98F-F10A9E93738A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026BED-7F5A-4978-ACE5-6863F848CC00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3F72B6-4418-4CA8-A851-BAFE85D92E1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E3E872-2F3A-4C8F-84EC-502D3F6551B0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lang="en-US" sz="1650" b="0" dirty="0">
                <a:solidFill>
                  <a:srgbClr val="111111"/>
                </a:solidFill>
              </a:rPr>
              <a:t>Single customers had the highest subscription rate at 54.35%, while married customers recorded the lowest at 43.38%—a 10.97-percentage-point gap. The bank should tailor campaign messages to different customer life stages.</a:t>
            </a:r>
            <a:r>
              <a:rPr sz="1650" b="0" dirty="0">
                <a:solidFill>
                  <a:srgbClr val="111111"/>
                </a:solidFill>
              </a:rPr>
              <a:t>. 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B95350E-94C1-48F4-B2EC-A755A822BE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199969"/>
              </p:ext>
            </p:extLst>
          </p:nvPr>
        </p:nvGraphicFramePr>
        <p:xfrm>
          <a:off x="1378633" y="1295400"/>
          <a:ext cx="8651631" cy="3264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73886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347BD4-667E-4106-9E61-E1BF0E8689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5EC554-4290-47E3-9896-1684F5E78D2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FIRST BANK CAMPAIGN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83BD0-8A82-4675-8D4E-6E102B174C31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Campaign timing creates very large differences in conversion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6C0B14-C6D3-4780-B803-27DBD19BFBB1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2BC2F-C39A-469A-BA91-85F875459DDF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97E962-3D4B-488B-81F9-CFE0A7C52A37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6F261-1ED6-4C99-9942-B6896A427178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01B36-A9CB-449E-A443-1ACE340CC611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March and December exceed 89%, while May records only 32.75%. Some high-performing months have smaller customer volumes, so the bank should test whether timing, campaign selection or seasonal customer intent explains the difference before shifting the full contact schedule.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3DBA366-AF64-4912-B936-037D216243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3071333"/>
              </p:ext>
            </p:extLst>
          </p:nvPr>
        </p:nvGraphicFramePr>
        <p:xfrm>
          <a:off x="1575581" y="1714501"/>
          <a:ext cx="9055563" cy="3202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9757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D4187F5-5CA5-46DC-9492-134C3D8D28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8B2030-169B-4F08-B018-E9460746DC1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lang="en-US" sz="1050" b="1" dirty="0">
                <a:solidFill>
                  <a:srgbClr val="D8A31A"/>
                </a:solidFill>
              </a:rPr>
              <a:t>INSIGHT</a:t>
            </a:r>
            <a:endParaRPr sz="1050" b="1" dirty="0">
              <a:solidFill>
                <a:srgbClr val="D8A31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251C17-EA67-4190-9173-F2AF6762B13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Seven findings define the campaign opportunity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751DC0-ECAD-4564-89AA-2D13A027A4CD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3EA1A-48D5-44A3-B308-555FE516A9AB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E06885-698F-404B-818E-A0C0DA7EE029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D8A31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FE9B0-1BC2-461B-BF80-CAECBDEC27B8}"/>
              </a:ext>
            </a:extLst>
          </p:cNvPr>
          <p:cNvSpPr>
            <a:spLocks noGrp="1"/>
          </p:cNvSpPr>
          <p:nvPr/>
        </p:nvSpPr>
        <p:spPr>
          <a:xfrm>
            <a:off x="838200" y="16383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1F4D"/>
                </a:solidFill>
              </a:defRPr>
            </a:pPr>
            <a:r>
              <a:rPr sz="1500" b="1">
                <a:solidFill>
                  <a:srgbClr val="081F4D"/>
                </a:solidFill>
              </a:rPr>
              <a:t>1. Overall conversion is 47.38% across 11,162 customers.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4F361A-EBAE-4070-9657-2A19ACC0B3EF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E5765-85D9-4986-A824-26B7C72266F7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81F4D"/>
                </a:solidFill>
              </a:defRPr>
            </a:pPr>
            <a:r>
              <a:rPr sz="1500" b="0">
                <a:solidFill>
                  <a:srgbClr val="081F4D"/>
                </a:solidFill>
              </a:rPr>
              <a:t>2. Previous success produces a 91.32% conversion rate.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C82450-3F50-4C77-B9CC-DE1CEFA5FF03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A8DBAC-1424-42CE-B68B-57646D5881E6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81F4D"/>
                </a:solidFill>
              </a:defRPr>
            </a:pPr>
            <a:r>
              <a:rPr sz="1500" b="0">
                <a:solidFill>
                  <a:srgbClr val="081F4D"/>
                </a:solidFill>
              </a:rPr>
              <a:t>3. Long calls and verified channels strongly separate outcomes.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799C42-4E34-41B2-89AB-3BCA68E0B97A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2E99E-A2B5-4349-9DD5-776B1FF3D484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81F4D"/>
                </a:solidFill>
              </a:defRPr>
            </a:pPr>
            <a:r>
              <a:rPr sz="1500" b="0">
                <a:solidFill>
                  <a:srgbClr val="081F4D"/>
                </a:solidFill>
              </a:rPr>
              <a:t>4. More than five contacts sharply reduce campaign efficiency.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B9AD6C-0863-4F53-A785-1B83FA3D2627}"/>
              </a:ext>
            </a:extLst>
          </p:cNvPr>
          <p:cNvSpPr>
            <a:spLocks noGrp="1"/>
          </p:cNvSpPr>
          <p:nvPr/>
        </p:nvSpPr>
        <p:spPr>
          <a:xfrm>
            <a:off x="6238875" y="15049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A56FF6-6EE2-4E02-B35E-5F34080CB2D9}"/>
              </a:ext>
            </a:extLst>
          </p:cNvPr>
          <p:cNvSpPr>
            <a:spLocks noGrp="1"/>
          </p:cNvSpPr>
          <p:nvPr/>
        </p:nvSpPr>
        <p:spPr>
          <a:xfrm>
            <a:off x="6410325" y="16383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81F4D"/>
                </a:solidFill>
              </a:defRPr>
            </a:pPr>
            <a:r>
              <a:rPr sz="1500" b="0">
                <a:solidFill>
                  <a:srgbClr val="081F4D"/>
                </a:solidFill>
              </a:rPr>
              <a:t>5. Young, senior, student and retired groups respond best.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A6603A-D9F0-4295-ABC3-74CB07F43121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76EA1-6295-4BD2-A1B7-B252E78DB9A0}"/>
              </a:ext>
            </a:extLst>
          </p:cNvPr>
          <p:cNvSpPr>
            <a:spLocks noGrp="1"/>
          </p:cNvSpPr>
          <p:nvPr/>
        </p:nvSpPr>
        <p:spPr>
          <a:xfrm>
            <a:off x="6410325" y="25146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81F4D"/>
                </a:solidFill>
              </a:defRPr>
            </a:pPr>
            <a:r>
              <a:rPr sz="1500" b="0">
                <a:solidFill>
                  <a:srgbClr val="081F4D"/>
                </a:solidFill>
              </a:rPr>
              <a:t>6. Medium/high balances and no-loan customers convert more.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43463A-C4AF-4B5F-A79F-3B7781B76552}"/>
              </a:ext>
            </a:extLst>
          </p:cNvPr>
          <p:cNvSpPr>
            <a:spLocks noGrp="1"/>
          </p:cNvSpPr>
          <p:nvPr/>
        </p:nvSpPr>
        <p:spPr>
          <a:xfrm>
            <a:off x="6238875" y="3257550"/>
            <a:ext cx="50958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916FA4-2189-4F20-AD5D-41149C889B5E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81F4D"/>
                </a:solidFill>
              </a:defRPr>
            </a:pPr>
            <a:r>
              <a:rPr sz="1500" b="0">
                <a:solidFill>
                  <a:srgbClr val="081F4D"/>
                </a:solidFill>
              </a:rPr>
              <a:t>7. Month-level variation requires testing before budget changes.</a:t>
            </a:r>
          </a:p>
        </p:txBody>
      </p:sp>
    </p:spTree>
    <p:extLst>
      <p:ext uri="{BB962C8B-B14F-4D97-AF65-F5344CB8AC3E}">
        <p14:creationId xmlns:p14="http://schemas.microsoft.com/office/powerpoint/2010/main" val="2105318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518D0C2-B53F-4AEB-B68B-A4B9F62B49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ECADD-5E18-42B8-9A5D-E65B68DD95A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lang="en-US" sz="1050" b="1" dirty="0">
                <a:solidFill>
                  <a:srgbClr val="D8A31A"/>
                </a:solidFill>
              </a:rPr>
              <a:t>RECOMENDATION</a:t>
            </a:r>
            <a:endParaRPr sz="1050" b="1" dirty="0">
              <a:solidFill>
                <a:srgbClr val="D8A31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E739CC-C529-437A-A73D-CC5F8C9FDECA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Focus campaign resources on the highest-quality opportunities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294FA8-767B-4DC2-9039-40AB59E16944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120F45-340C-4224-ABF0-DEF247EB1AE9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9B6B1E-03C3-4A8E-86CF-4672F80E0C6A}"/>
              </a:ext>
            </a:extLst>
          </p:cNvPr>
          <p:cNvSpPr>
            <a:spLocks noGrp="1"/>
          </p:cNvSpPr>
          <p:nvPr/>
        </p:nvSpPr>
        <p:spPr>
          <a:xfrm>
            <a:off x="704850" y="147637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E9B8EF-8E6B-4BBE-803A-BEAF28125690}"/>
              </a:ext>
            </a:extLst>
          </p:cNvPr>
          <p:cNvSpPr>
            <a:spLocks noGrp="1"/>
          </p:cNvSpPr>
          <p:nvPr/>
        </p:nvSpPr>
        <p:spPr>
          <a:xfrm>
            <a:off x="1333500" y="14763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Prioritise previous successes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A393CD-04A6-4DE7-8359-BE7D052864C5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Create a fast-track audience for customers who accepted or responded positively before.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3D106C-D6DD-4D36-A6DD-0017EB4E56E6}"/>
              </a:ext>
            </a:extLst>
          </p:cNvPr>
          <p:cNvSpPr>
            <a:spLocks noGrp="1"/>
          </p:cNvSpPr>
          <p:nvPr/>
        </p:nvSpPr>
        <p:spPr>
          <a:xfrm>
            <a:off x="704850" y="2200275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94591D-4CD8-4592-8819-7DE2146C3410}"/>
              </a:ext>
            </a:extLst>
          </p:cNvPr>
          <p:cNvSpPr>
            <a:spLocks noGrp="1"/>
          </p:cNvSpPr>
          <p:nvPr/>
        </p:nvSpPr>
        <p:spPr>
          <a:xfrm>
            <a:off x="704850" y="24098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5EEC2-A086-4BB5-A8C9-CB34F2AB5270}"/>
              </a:ext>
            </a:extLst>
          </p:cNvPr>
          <p:cNvSpPr>
            <a:spLocks noGrp="1"/>
          </p:cNvSpPr>
          <p:nvPr/>
        </p:nvSpPr>
        <p:spPr>
          <a:xfrm>
            <a:off x="1333500" y="24098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Repair contact information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97B5B4-2804-42B1-8CA4-083904452218}"/>
              </a:ext>
            </a:extLst>
          </p:cNvPr>
          <p:cNvSpPr>
            <a:spLocks noGrp="1"/>
          </p:cNvSpPr>
          <p:nvPr/>
        </p:nvSpPr>
        <p:spPr>
          <a:xfrm>
            <a:off x="4667250" y="240982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Resolve unknown channels and </a:t>
            </a:r>
            <a:r>
              <a:rPr sz="1500" b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prioritise</a:t>
            </a: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verified cellular details before campaign launch.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0AA14-45DF-4065-BA38-76C52236CA8E}"/>
              </a:ext>
            </a:extLst>
          </p:cNvPr>
          <p:cNvSpPr>
            <a:spLocks noGrp="1"/>
          </p:cNvSpPr>
          <p:nvPr/>
        </p:nvSpPr>
        <p:spPr>
          <a:xfrm>
            <a:off x="704850" y="3133725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C9CADC-15A5-432F-A13E-DED35966F266}"/>
              </a:ext>
            </a:extLst>
          </p:cNvPr>
          <p:cNvSpPr>
            <a:spLocks noGrp="1"/>
          </p:cNvSpPr>
          <p:nvPr/>
        </p:nvSpPr>
        <p:spPr>
          <a:xfrm>
            <a:off x="704850" y="334327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677BD2-A04D-497C-A7BE-C74BF17FC5A3}"/>
              </a:ext>
            </a:extLst>
          </p:cNvPr>
          <p:cNvSpPr>
            <a:spLocks noGrp="1"/>
          </p:cNvSpPr>
          <p:nvPr/>
        </p:nvSpPr>
        <p:spPr>
          <a:xfrm>
            <a:off x="1333500" y="33432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Limit repeated attempts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6CE755-EA57-4DDF-81D0-BAEFE78394D2}"/>
              </a:ext>
            </a:extLst>
          </p:cNvPr>
          <p:cNvSpPr>
            <a:spLocks noGrp="1"/>
          </p:cNvSpPr>
          <p:nvPr/>
        </p:nvSpPr>
        <p:spPr>
          <a:xfrm>
            <a:off x="4667250" y="334327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a contact cap and re-score leads after the fifth unsuccessful approach</a:t>
            </a:r>
            <a:r>
              <a:rPr sz="1500" b="0" dirty="0">
                <a:solidFill>
                  <a:srgbClr val="5E6673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182D18-BCC2-4FC1-A59A-C0C9398A0998}"/>
              </a:ext>
            </a:extLst>
          </p:cNvPr>
          <p:cNvSpPr>
            <a:spLocks noGrp="1"/>
          </p:cNvSpPr>
          <p:nvPr/>
        </p:nvSpPr>
        <p:spPr>
          <a:xfrm>
            <a:off x="704850" y="4067175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B30CD4-CB8C-4340-8657-7A17DCA6CC61}"/>
              </a:ext>
            </a:extLst>
          </p:cNvPr>
          <p:cNvSpPr>
            <a:spLocks noGrp="1"/>
          </p:cNvSpPr>
          <p:nvPr/>
        </p:nvSpPr>
        <p:spPr>
          <a:xfrm>
            <a:off x="704850" y="4276725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644C73-9E09-48CE-B205-54DF19DF8A57}"/>
              </a:ext>
            </a:extLst>
          </p:cNvPr>
          <p:cNvSpPr>
            <a:spLocks noGrp="1"/>
          </p:cNvSpPr>
          <p:nvPr/>
        </p:nvSpPr>
        <p:spPr>
          <a:xfrm>
            <a:off x="1333500" y="42767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Tailor customer propositions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9F3C05-23DD-44D6-98BC-7A9074A43ABF}"/>
              </a:ext>
            </a:extLst>
          </p:cNvPr>
          <p:cNvSpPr>
            <a:spLocks noGrp="1"/>
          </p:cNvSpPr>
          <p:nvPr/>
        </p:nvSpPr>
        <p:spPr>
          <a:xfrm>
            <a:off x="4667250" y="427672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Build different messages for young, senior, student, retired and middle-aged groups</a:t>
            </a:r>
            <a:r>
              <a:rPr sz="1500" b="0" dirty="0">
                <a:solidFill>
                  <a:srgbClr val="5E6673"/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FBB59F-F8CA-4778-9FCA-3F112555C399}"/>
              </a:ext>
            </a:extLst>
          </p:cNvPr>
          <p:cNvSpPr>
            <a:spLocks noGrp="1"/>
          </p:cNvSpPr>
          <p:nvPr/>
        </p:nvSpPr>
        <p:spPr>
          <a:xfrm>
            <a:off x="704850" y="5000625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E93BAFC-6C54-4801-B365-5E7F9612BA3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55A887-9D19-4649-BAA7-E5979B90A66F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76200" cy="106680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C23694-68D4-458D-8D57-BD34DC359212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1057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These changes improve efficiency without relying on a single demographic factor. The strongest immediate gains should come from better contact data, previous-outcome targeting and stopping low-potential repeat attempts earlier.</a:t>
            </a:r>
          </a:p>
        </p:txBody>
      </p:sp>
    </p:spTree>
    <p:extLst>
      <p:ext uri="{BB962C8B-B14F-4D97-AF65-F5344CB8AC3E}">
        <p14:creationId xmlns:p14="http://schemas.microsoft.com/office/powerpoint/2010/main" val="986504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E7DBF89-3A00-4424-A5C1-ED7CF1DA9B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81F4D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FA7336-7A4B-4C75-9837-3E59E419FB4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8A31A"/>
                </a:solidFill>
              </a:defRPr>
            </a:pPr>
            <a:r>
              <a:rPr sz="1050" b="1">
                <a:solidFill>
                  <a:srgbClr val="D8A31A"/>
                </a:solidFill>
              </a:rPr>
              <a:t>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850246-80E4-491A-9516-245E9365F39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81F4D"/>
                </a:solidFill>
              </a:defRPr>
            </a:pPr>
            <a:r>
              <a:rPr sz="2700" b="1">
                <a:solidFill>
                  <a:srgbClr val="081F4D"/>
                </a:solidFill>
              </a:rPr>
              <a:t>Build a repeatable test-and-learn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152AA5-7EC3-429E-BCB1-C8C1C659A073}"/>
              </a:ext>
            </a:extLst>
          </p:cNvPr>
          <p:cNvSpPr>
            <a:spLocks noGrp="1"/>
          </p:cNvSpPr>
          <p:nvPr/>
        </p:nvSpPr>
        <p:spPr>
          <a:xfrm>
            <a:off x="552450" y="1171575"/>
            <a:ext cx="11087100" cy="19050"/>
          </a:xfrm>
          <a:prstGeom prst="rect">
            <a:avLst/>
          </a:prstGeom>
          <a:solidFill>
            <a:srgbClr val="D8A31A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46418-8FEF-44A7-B7C3-30ACF8C8A68D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17582-FFD1-4DAF-8EDA-AAF76D150F94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ABDA6-FC63-41B7-8B29-3E4628194E80}"/>
              </a:ext>
            </a:extLst>
          </p:cNvPr>
          <p:cNvSpPr>
            <a:spLocks noGrp="1"/>
          </p:cNvSpPr>
          <p:nvPr/>
        </p:nvSpPr>
        <p:spPr>
          <a:xfrm>
            <a:off x="1333500" y="1428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Coach for meaningful calls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6FD125-D004-42A9-A909-2FF1915A9678}"/>
              </a:ext>
            </a:extLst>
          </p:cNvPr>
          <p:cNvSpPr>
            <a:spLocks noGrp="1"/>
          </p:cNvSpPr>
          <p:nvPr/>
        </p:nvSpPr>
        <p:spPr>
          <a:xfrm>
            <a:off x="4667250" y="14287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Train agents to diagnose needs and explain value, while avoiding artificial call-length targets.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A4361-B69C-4478-B1D3-7E20E0B90412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F5C40-9FF5-4951-B51D-2BBA7F7BFE4F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1B56F7-CB1B-4625-B880-3A16741431DF}"/>
              </a:ext>
            </a:extLst>
          </p:cNvPr>
          <p:cNvSpPr>
            <a:spLocks noGrp="1"/>
          </p:cNvSpPr>
          <p:nvPr/>
        </p:nvSpPr>
        <p:spPr>
          <a:xfrm>
            <a:off x="1333500" y="23050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Design around affordability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C3B791-4A51-48DC-9587-2CF282EFCBDB}"/>
              </a:ext>
            </a:extLst>
          </p:cNvPr>
          <p:cNvSpPr>
            <a:spLocks noGrp="1"/>
          </p:cNvSpPr>
          <p:nvPr/>
        </p:nvSpPr>
        <p:spPr>
          <a:xfrm>
            <a:off x="4667250" y="23050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Offer suitable propositions for customers with loans or lower balances instead of excluding them.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97C9EF-FA41-423B-A2A4-497A1284D3C8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EB2831-7AC5-4FF5-8EDA-A5839774ED6B}"/>
              </a:ext>
            </a:extLst>
          </p:cNvPr>
          <p:cNvSpPr>
            <a:spLocks noGrp="1"/>
          </p:cNvSpPr>
          <p:nvPr/>
        </p:nvSpPr>
        <p:spPr>
          <a:xfrm>
            <a:off x="704850" y="31813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C89366-EBCF-4B45-86C5-85353CE29C50}"/>
              </a:ext>
            </a:extLst>
          </p:cNvPr>
          <p:cNvSpPr>
            <a:spLocks noGrp="1"/>
          </p:cNvSpPr>
          <p:nvPr/>
        </p:nvSpPr>
        <p:spPr>
          <a:xfrm>
            <a:off x="1333500" y="31813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Test campaign timing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2A4BA5-3A7C-47FB-A342-D1520E729AD7}"/>
              </a:ext>
            </a:extLst>
          </p:cNvPr>
          <p:cNvSpPr>
            <a:spLocks noGrp="1"/>
          </p:cNvSpPr>
          <p:nvPr/>
        </p:nvSpPr>
        <p:spPr>
          <a:xfrm>
            <a:off x="4667250" y="31813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Run controlled tests across months to separate seasonal demand from audience selection.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A163D6-D0C2-4DF9-9AFA-EA837FDA2019}"/>
              </a:ext>
            </a:extLst>
          </p:cNvPr>
          <p:cNvSpPr>
            <a:spLocks noGrp="1"/>
          </p:cNvSpPr>
          <p:nvPr/>
        </p:nvSpPr>
        <p:spPr>
          <a:xfrm>
            <a:off x="704850" y="3867150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D5444D-328B-4E16-9BAE-019BD3435976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8A31A"/>
                </a:solidFill>
              </a:defRPr>
            </a:pPr>
            <a:r>
              <a:rPr sz="1800" b="1">
                <a:solidFill>
                  <a:srgbClr val="D8A31A"/>
                </a:solidFill>
              </a:rPr>
              <a:t>08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7F240-E9AA-4E1A-B5A9-19F928F96482}"/>
              </a:ext>
            </a:extLst>
          </p:cNvPr>
          <p:cNvSpPr>
            <a:spLocks noGrp="1"/>
          </p:cNvSpPr>
          <p:nvPr/>
        </p:nvSpPr>
        <p:spPr>
          <a:xfrm>
            <a:off x="1333500" y="40576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81F4D"/>
                </a:solidFill>
              </a:defRPr>
            </a:pPr>
            <a:r>
              <a:rPr sz="1650" b="1">
                <a:solidFill>
                  <a:srgbClr val="081F4D"/>
                </a:solidFill>
              </a:rPr>
              <a:t>Track value beyond signup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390511-7C20-4840-8BF5-746DA4F37DB4}"/>
              </a:ext>
            </a:extLst>
          </p:cNvPr>
          <p:cNvSpPr>
            <a:spLocks noGrp="1"/>
          </p:cNvSpPr>
          <p:nvPr/>
        </p:nvSpPr>
        <p:spPr>
          <a:xfrm>
            <a:off x="4667250" y="405765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73"/>
                </a:solidFill>
              </a:defRPr>
            </a:pPr>
            <a:r>
              <a:rPr sz="15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Measure deposit funding, retention and profitability—not only immediate subscription</a:t>
            </a:r>
            <a:r>
              <a:rPr sz="1500" b="0" dirty="0">
                <a:solidFill>
                  <a:srgbClr val="5E6673"/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1000CA-324E-48B5-9227-ABCA7B5D8DDC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10477500" cy="9525"/>
          </a:xfrm>
          <a:prstGeom prst="rect">
            <a:avLst/>
          </a:prstGeom>
          <a:solidFill>
            <a:srgbClr val="E3E7E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13B53F-F4FA-49AF-ACC1-5F04A6AFF36D}"/>
              </a:ext>
            </a:extLst>
          </p:cNvPr>
          <p:cNvSpPr>
            <a:spLocks noGrp="1"/>
          </p:cNvSpPr>
          <p:nvPr/>
        </p:nvSpPr>
        <p:spPr>
          <a:xfrm>
            <a:off x="933450" y="54292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Bottom line: target smarter, improve contact quality and measure long-term customer value.</a:t>
            </a:r>
          </a:p>
        </p:txBody>
      </p:sp>
    </p:spTree>
    <p:extLst>
      <p:ext uri="{BB962C8B-B14F-4D97-AF65-F5344CB8AC3E}">
        <p14:creationId xmlns:p14="http://schemas.microsoft.com/office/powerpoint/2010/main" val="19399686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1606</Words>
  <Application>Microsoft Office PowerPoint</Application>
  <DocSecurity>0</DocSecurity>
  <PresentationFormat>Widescreen</PresentationFormat>
  <Paragraphs>189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13</cp:revision>
  <dcterms:created xsi:type="dcterms:W3CDTF">2026-08-29T02:30:58Z</dcterms:created>
  <dcterms:modified xsi:type="dcterms:W3CDTF">2026-09-01T01:59:37Z</dcterms:modified>
</cp:coreProperties>
</file>